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2885"/>
            <a:ext cx="12191695" cy="91437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5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127248"/>
            <a:ext cx="12191695" cy="508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F57C00"/>
                </a:solidFill>
                <a:latin typeface="Verdana"/>
              </a:rPr>
              <a:t>ÉLECTION DES DÉLÉGUÉS · 4ÈME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83080"/>
            <a:ext cx="8229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9600" b="1">
                <a:solidFill>
                  <a:srgbClr val="FFFFFF"/>
                </a:solidFill>
                <a:latin typeface="Verdana"/>
              </a:rPr>
              <a:t>Lucien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8686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3400" b="1">
                <a:solidFill>
                  <a:srgbClr val="FFFFFF"/>
                </a:solidFill>
                <a:latin typeface="Verdana"/>
              </a:rPr>
              <a:t>Ce que tu dis en bas,
je le dis en haut.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200" b="1">
                <a:solidFill>
                  <a:srgbClr val="F57C00"/>
                </a:solidFill>
                <a:latin typeface="Verdana"/>
              </a:rPr>
              <a:t>Votez Lucien.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23489"/>
            <a:ext cx="12191695" cy="910497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LE 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8961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Verdana"/>
              </a:rPr>
              <a:t>Je ne promets pas de changer le collège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4754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9CDDE"/>
                </a:solidFill>
                <a:latin typeface="Verdana"/>
              </a:rPr>
              <a:t>L'année prochaine, ce sera toujours :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1400"/>
              </a:spcAft>
            </a:pPr>
            <a:r>
              <a:rPr sz="2100" b="1">
                <a:solidFill>
                  <a:srgbClr val="FFFFFF"/>
                </a:solidFill>
                <a:latin typeface="Verdana"/>
              </a:rPr>
              <a:t>Le même bâtiment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100" b="1">
                <a:solidFill>
                  <a:srgbClr val="FFFFFF"/>
                </a:solidFill>
                <a:latin typeface="Verdana"/>
              </a:rPr>
              <a:t>Les mêmes contrôles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100" b="1">
                <a:solidFill>
                  <a:srgbClr val="FFFFFF"/>
                </a:solidFill>
                <a:latin typeface="Verdana"/>
              </a:rPr>
              <a:t>La même cantine le jeudi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2651760"/>
            <a:ext cx="3703320" cy="3017520"/>
          </a:xfrm>
          <a:prstGeom prst="rect">
            <a:avLst/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89320" y="2651760"/>
            <a:ext cx="63500" cy="301752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880360"/>
            <a:ext cx="310896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07A"/>
                </a:solidFill>
                <a:latin typeface="Verdana"/>
              </a:rPr>
              <a:t>Une seule chose peut changer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1B3A"/>
                </a:solidFill>
                <a:latin typeface="Verdana"/>
              </a:rPr>
              <a:t>est-ce que vos idées arrivent jusqu'à la réunion, ou est-ce qu'elles restent dans la cour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09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C9CDDE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309360"/>
            <a:ext cx="685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C9CDDE"/>
                </a:solidFill>
                <a:latin typeface="Verdan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35821"/>
            <a:ext cx="12191695" cy="812964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LE CONSTAT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8961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Verdana"/>
              </a:rPr>
              <a:t>Un délégué, trois missions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2743200" cy="2377440"/>
          </a:xfrm>
          <a:prstGeom prst="rect">
            <a:avLst/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06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83280"/>
            <a:ext cx="2148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A315C"/>
                </a:solidFill>
                <a:latin typeface="Verdana"/>
              </a:rPr>
              <a:t>Aller aux conseils de classe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86200" y="2331720"/>
            <a:ext cx="2743200" cy="2377440"/>
          </a:xfrm>
          <a:prstGeom prst="rect">
            <a:avLst/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2606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161B3A"/>
                </a:solidFill>
                <a:latin typeface="Verdan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383280"/>
            <a:ext cx="2148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A315C"/>
                </a:solidFill>
                <a:latin typeface="Verdana"/>
              </a:rPr>
              <a:t>Parler au nom de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331720"/>
            <a:ext cx="2743200" cy="237744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9" y="260604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F57C00"/>
                </a:solidFill>
                <a:latin typeface="Verdan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9" y="3383280"/>
            <a:ext cx="2148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FFFFFF"/>
                </a:solidFill>
                <a:latin typeface="Verdana"/>
              </a:rPr>
              <a:t>Revenir vous raconter ce qui s'est 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92040"/>
            <a:ext cx="8778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1">
                <a:solidFill>
                  <a:srgbClr val="FFFFFF"/>
                </a:solidFill>
                <a:latin typeface="Verdana"/>
              </a:rPr>
              <a:t>La troisième, personne ne la fait.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1400"/>
              </a:spcAft>
            </a:pPr>
            <a:r>
              <a:rPr sz="1600" b="0">
                <a:solidFill>
                  <a:srgbClr val="C9CDDE"/>
                </a:solidFill>
                <a:latin typeface="Verdana"/>
              </a:rPr>
              <a:t>On nous élit en octobre. En janvier, on ne sait toujours pas ce qui s'est décidé.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C9CDDE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309360"/>
            <a:ext cx="685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C9CDDE"/>
                </a:solidFill>
                <a:latin typeface="Verdan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550" y="0"/>
            <a:ext cx="122067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PROMESSE N°1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8961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3800" b="1">
                <a:solidFill>
                  <a:srgbClr val="FFFFFF"/>
                </a:solidFill>
                <a:latin typeface="Verdana"/>
              </a:rPr>
              <a:t>Le lendemain de chaque conseil, vous avez un compte rendu.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8961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0">
                <a:solidFill>
                  <a:srgbClr val="C9CDDE"/>
                </a:solidFill>
                <a:latin typeface="Verdana"/>
              </a:rPr>
              <a:t>Qui a posé une question, ce qui a été répondu, ce qui est accepté, ce qui est refusé.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  <a:spcAft>
                <a:spcPts val="1400"/>
              </a:spcAft>
            </a:pPr>
            <a:r>
              <a:rPr sz="2800" b="1">
                <a:solidFill>
                  <a:srgbClr val="F57C00"/>
                </a:solidFill>
                <a:latin typeface="Verdana"/>
              </a:rPr>
              <a:t>Même court. Même si la nouvelle est mauvaise.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C9CDDE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309360"/>
            <a:ext cx="685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C9CDDE"/>
                </a:solidFill>
                <a:latin typeface="Verdan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550" y="0"/>
            <a:ext cx="1220679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PROMESSE N°2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Verdana"/>
              </a:rPr>
              <a:t>Une boîte à 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7548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Comment ça marche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Verdana"/>
              </a:rPr>
              <a:t>Une feuille posée dans la classe, à la fin du cours.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Verdana"/>
              </a:rPr>
              <a:t>Tu écris une idée. Ton nom si tu veux.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1400"/>
              </a:spcAft>
            </a:pPr>
            <a:r>
              <a:rPr sz="2000" b="0">
                <a:solidFill>
                  <a:srgbClr val="FFFFFF"/>
                </a:solidFill>
                <a:latin typeface="Verdana"/>
              </a:rPr>
              <a:t>Sujets libres : devoirs, sorties, self, ambiance.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828800"/>
            <a:ext cx="3703320" cy="393192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306324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Ma part du contrat</a:t>
            </a:r>
          </a:p>
          <a:p>
            <a:pPr algn="l">
              <a:lnSpc>
                <a:spcPct val="110000"/>
              </a:lnSpc>
              <a:spcBef>
                <a:spcPts val="140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Verdana"/>
              </a:rPr>
              <a:t>Je lis tout.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Verdana"/>
              </a:rPr>
              <a:t>Je remonte tout au prof principal, dans l'ordre.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Verdana"/>
              </a:rPr>
              <a:t>Si une idée ne passe pas, je vous dis pourquoi.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09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C9CDDE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309360"/>
            <a:ext cx="685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C9CDDE"/>
                </a:solidFill>
                <a:latin typeface="Verdana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007114"/>
            <a:ext cx="12191695" cy="88722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685800"/>
            <a:ext cx="411480" cy="635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7548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F57C00"/>
                </a:solidFill>
                <a:latin typeface="Verdana"/>
              </a:rPr>
              <a:t>POURQUOI MOI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8961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800" b="1">
                <a:solidFill>
                  <a:srgbClr val="F57C00"/>
                </a:solidFill>
                <a:latin typeface="Verdana"/>
              </a:rPr>
              <a:t>[À COMPLÉTER : une raison vraie, en une phrase. Quelque chose que tu as vu ou vécu dans la classe cette année.]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57600"/>
            <a:ext cx="8961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1">
                <a:solidFill>
                  <a:srgbClr val="FFFFFF"/>
                </a:solidFill>
                <a:latin typeface="Verdana"/>
              </a:rPr>
              <a:t>Je suis dans cette classe tous les jours, comme vous.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  <a:spcAft>
                <a:spcPts val="1400"/>
              </a:spcAft>
            </a:pPr>
            <a:r>
              <a:rPr sz="2100" b="0">
                <a:solidFill>
                  <a:srgbClr val="C9CDDE"/>
                </a:solidFill>
                <a:latin typeface="Verdana"/>
              </a:rPr>
              <a:t>Je n'ai rien à y gagner, à part une réunion pendant la récré.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09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C9CDDE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309360"/>
            <a:ext cx="685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C9CDDE"/>
                </a:solidFill>
                <a:latin typeface="Verdan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83175"/>
            <a:ext cx="12191695" cy="802435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F57C00"/>
                </a:solidFill>
                <a:latin typeface="Verdana"/>
              </a:rPr>
              <a:t>LE SLOGAN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75895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5800" b="1">
                <a:solidFill>
                  <a:srgbClr val="FFFFFF"/>
                </a:solidFill>
                <a:latin typeface="Verdana"/>
              </a:rPr>
              <a:t>Ce que tu dis en bas,
je le dis en haut.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846320"/>
            <a:ext cx="2926080" cy="508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142885"/>
            <a:ext cx="12191695" cy="91437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B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8961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0">
                <a:solidFill>
                  <a:srgbClr val="C9CDDE"/>
                </a:solidFill>
                <a:latin typeface="Verdana"/>
              </a:rPr>
              <a:t>Le bulletin, c'est deux noms à écrire.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1400"/>
              </a:spcAft>
            </a:pPr>
            <a:r>
              <a:rPr sz="5600" b="1">
                <a:solidFill>
                  <a:srgbClr val="FFFFFF"/>
                </a:solidFill>
                <a:latin typeface="Verdana"/>
              </a:rPr>
              <a:t>Mettez Lucien.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931920"/>
            <a:ext cx="5120640" cy="1645920"/>
          </a:xfrm>
          <a:prstGeom prst="rect">
            <a:avLst/>
          </a:prstGeom>
          <a:solidFill>
            <a:srgbClr val="16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931920"/>
            <a:ext cx="42062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FFFFFF"/>
                </a:solidFill>
                <a:latin typeface="Verdana"/>
              </a:rPr>
              <a:t>Vous aurez quelqu'un qui vous tient au courant.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3931920"/>
            <a:ext cx="3703320" cy="1645920"/>
          </a:xfrm>
          <a:prstGeom prst="rect">
            <a:avLst/>
          </a:prstGeom>
          <a:solidFill>
            <a:srgbClr val="F5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3931920"/>
            <a:ext cx="315468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2800" b="1">
                <a:solidFill>
                  <a:srgbClr val="FFFFFF"/>
                </a:solidFill>
                <a:latin typeface="Verdana"/>
              </a:rPr>
              <a:t>Votez Lucien.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093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0">
                <a:solidFill>
                  <a:srgbClr val="C9CDDE"/>
                </a:solidFill>
                <a:latin typeface="Verdana"/>
              </a:rPr>
              <a:t>Lucien, délégué de classe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309360"/>
            <a:ext cx="685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>
                <a:solidFill>
                  <a:srgbClr val="C9CDDE"/>
                </a:solidFill>
                <a:latin typeface="Verdana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