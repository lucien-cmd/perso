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08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F57C00"/>
                </a:solidFill>
                <a:latin typeface="Verdana"/>
              </a:rPr>
              <a:t>ÉLECTION DES DÉLÉGUÉS · 4ÈME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9600" b="1">
                <a:solidFill>
                  <a:srgbClr val="FFFFFF"/>
                </a:solidFill>
                <a:latin typeface="Verdana"/>
              </a:rPr>
              <a:t>Lucien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290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  <a:latin typeface="Verdana"/>
              </a:rPr>
              <a:t>Ce que tu dis en bas,
je le dis en haut.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200" b="1">
                <a:solidFill>
                  <a:srgbClr val="F57C00"/>
                </a:solidFill>
                <a:latin typeface="Verdana"/>
              </a:rPr>
              <a:t>Votez Lucien.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LE POINT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Je ne promets pas de changer le collège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4754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5A607A"/>
                </a:solidFill>
                <a:latin typeface="Verdana"/>
              </a:rPr>
              <a:t>L'année prochaine, ce sera toujours :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1400"/>
              </a:spcAft>
            </a:pPr>
            <a:r>
              <a:rPr sz="2100" b="1">
                <a:solidFill>
                  <a:srgbClr val="2A315C"/>
                </a:solidFill>
                <a:latin typeface="Verdana"/>
              </a:rPr>
              <a:t>Le même bâtiment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100" b="1">
                <a:solidFill>
                  <a:srgbClr val="2A315C"/>
                </a:solidFill>
                <a:latin typeface="Verdana"/>
              </a:rPr>
              <a:t>Les mêmes contrôles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100" b="1">
                <a:solidFill>
                  <a:srgbClr val="2A315C"/>
                </a:solidFill>
                <a:latin typeface="Verdana"/>
              </a:rPr>
              <a:t>La même cantine le jeudi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286000"/>
            <a:ext cx="5303520" cy="292608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286000"/>
            <a:ext cx="63500" cy="292608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651760"/>
            <a:ext cx="4572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5A607A"/>
                </a:solidFill>
                <a:latin typeface="Verdana"/>
              </a:rPr>
              <a:t>Une seule chose peut changer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161B3A"/>
                </a:solidFill>
                <a:latin typeface="Verdana"/>
              </a:rPr>
              <a:t>est-ce que vos idées arrivent jusqu'à la réunion, ou est-ce qu'elles restent dans la cour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LE CONSTAT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Un délégué, trois 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3291840" cy="210312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290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2A315C"/>
                </a:solidFill>
                <a:latin typeface="Verdana"/>
              </a:rPr>
              <a:t>Aller aux conseils de classe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377440"/>
            <a:ext cx="3291840" cy="210312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4290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2A315C"/>
                </a:solidFill>
                <a:latin typeface="Verdana"/>
              </a:rPr>
              <a:t>Parler au nom de la classe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377440"/>
            <a:ext cx="3291840" cy="210312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65176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F57C00"/>
                </a:solidFill>
                <a:latin typeface="Verdan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4290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Verdana"/>
              </a:rPr>
              <a:t>Revenir vous raconter ce qui s'est 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161B3A"/>
                </a:solidFill>
                <a:latin typeface="Verdana"/>
              </a:rPr>
              <a:t>La troisième, personne ne la fait.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1400"/>
              </a:spcAft>
            </a:pPr>
            <a:r>
              <a:rPr sz="1700" b="0">
                <a:solidFill>
                  <a:srgbClr val="5A607A"/>
                </a:solidFill>
                <a:latin typeface="Verdana"/>
              </a:rPr>
              <a:t>On nous élit en octobre. En janvier, on ne sait toujours pas ce qui s'est décidé.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PROMESSE N°1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Le lendemain de chaque conseil, vous avez un compte rendu.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200" b="0">
                <a:solidFill>
                  <a:srgbClr val="5A607A"/>
                </a:solidFill>
                <a:latin typeface="Verdana"/>
              </a:rPr>
              <a:t>Qui a posé une question, ce qui a été répondu, ce qui est accepté, ce qui est refusé.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  <a:spcAft>
                <a:spcPts val="1400"/>
              </a:spcAft>
            </a:pPr>
            <a:r>
              <a:rPr sz="3000" b="1">
                <a:solidFill>
                  <a:srgbClr val="F57C00"/>
                </a:solidFill>
                <a:latin typeface="Verdana"/>
              </a:rPr>
              <a:t>Même court. Même si la nouvelle est mauvaise.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PROMESSE N°2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Une boîte à idées dans la classe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Comment ça marche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1400"/>
              </a:spcAft>
            </a:pPr>
            <a:r>
              <a:rPr sz="2000" b="0">
                <a:solidFill>
                  <a:srgbClr val="2A315C"/>
                </a:solidFill>
                <a:latin typeface="Verdana"/>
              </a:rPr>
              <a:t>Une feuille posée dans la classe, à la fin du cours.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2A315C"/>
                </a:solidFill>
                <a:latin typeface="Verdana"/>
              </a:rPr>
              <a:t>Tu écris une idée. Ton nom si tu veux.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2A315C"/>
                </a:solidFill>
                <a:latin typeface="Verdana"/>
              </a:rPr>
              <a:t>Sujets libres : devoirs, sorties, self, ambiance.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194560"/>
            <a:ext cx="5212080" cy="320040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297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Ma part du contrat</a:t>
            </a:r>
          </a:p>
          <a:p>
            <a:pPr algn="l">
              <a:lnSpc>
                <a:spcPct val="110000"/>
              </a:lnSpc>
              <a:spcBef>
                <a:spcPts val="1200"/>
              </a:spcBef>
              <a:spcAft>
                <a:spcPts val="1400"/>
              </a:spcAft>
            </a:pPr>
            <a:r>
              <a:rPr sz="2600" b="1">
                <a:solidFill>
                  <a:srgbClr val="FFFFFF"/>
                </a:solidFill>
                <a:latin typeface="Verdana"/>
              </a:rPr>
              <a:t>Je lis tout.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Verdana"/>
              </a:rPr>
              <a:t>Je remonte tout au prof principal, dans l'ordre.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Verdana"/>
              </a:rPr>
              <a:t>Si une idée ne passe pas, je vous dis pourquoi.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POURQUOI MOI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57C00"/>
                </a:solidFill>
                <a:latin typeface="Verdana"/>
              </a:rPr>
              <a:t>[À COMPLÉTER : une raison vraie, en une phrase. Quelque chose que tu as vu ou vécu dans la classe cette année.]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161B3A"/>
                </a:solidFill>
                <a:latin typeface="Verdana"/>
              </a:rPr>
              <a:t>Je suis dans cette classe tous les jours, comme vous.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  <a:spcAft>
                <a:spcPts val="1400"/>
              </a:spcAft>
            </a:pPr>
            <a:r>
              <a:rPr sz="2200" b="0">
                <a:solidFill>
                  <a:srgbClr val="5A607A"/>
                </a:solidFill>
                <a:latin typeface="Verdana"/>
              </a:rPr>
              <a:t>Je n'ai rien à y gagner, à part une réunion pendant la récré.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F57C00"/>
                </a:solidFill>
                <a:latin typeface="Verdana"/>
              </a:rPr>
              <a:t>LE SLOGAN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6000" b="1">
                <a:solidFill>
                  <a:srgbClr val="FFFFFF"/>
                </a:solidFill>
                <a:latin typeface="Verdana"/>
              </a:rPr>
              <a:t>Ce que tu dis en bas,
je le dis en haut.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846320"/>
            <a:ext cx="2926080" cy="508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3200" b="0">
                <a:solidFill>
                  <a:srgbClr val="5A607A"/>
                </a:solidFill>
                <a:latin typeface="Verdana"/>
              </a:rPr>
              <a:t>Le bulletin, c'est deux noms à écrire.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1400"/>
              </a:spcAft>
            </a:pPr>
            <a:r>
              <a:rPr sz="6000" b="1">
                <a:solidFill>
                  <a:srgbClr val="161B3A"/>
                </a:solidFill>
                <a:latin typeface="Verdana"/>
              </a:rPr>
              <a:t>Mettez Lucien.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5120640" cy="164592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4206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Verdana"/>
              </a:rPr>
              <a:t>Vous aurez quelqu'un qui vous tient au courant.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931920"/>
            <a:ext cx="5029200" cy="164592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4480560"/>
            <a:ext cx="4114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  <a:latin typeface="Verdana"/>
              </a:rPr>
              <a:t>Votez Lucien.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5A607A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26364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5A607A"/>
                </a:solidFill>
                <a:latin typeface="Verdana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