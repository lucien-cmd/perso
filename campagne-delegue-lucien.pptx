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91695" cy="508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57C00"/>
                </a:solidFill>
                <a:latin typeface="Verdana"/>
              </a:rPr>
              <a:t>ÉLECTION DES DÉLÉGUÉS · 4ÈME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8229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9600" b="1">
                <a:solidFill>
                  <a:srgbClr val="FFFFFF"/>
                </a:solidFill>
                <a:latin typeface="Verdana"/>
              </a:rPr>
              <a:t>Lucien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Verdana"/>
              </a:rPr>
              <a:t>Ce que tu dis en bas,
je le dis en haut.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F57C00"/>
                </a:solidFill>
                <a:latin typeface="Verdana"/>
              </a:rPr>
              <a:t>Votez Lucien.</a:t>
            </a:r>
          </a:p>
        </p:txBody>
      </p:sp>
      <p:sp>
        <p:nvSpPr>
          <p:cNvPr id="8" name="Oval 7"/>
          <p:cNvSpPr/>
          <p:nvPr/>
        </p:nvSpPr>
        <p:spPr>
          <a:xfrm>
            <a:off x="8738006" y="645566"/>
            <a:ext cx="2457907" cy="2457907"/>
          </a:xfrm>
          <a:prstGeom prst="ellipse">
            <a:avLst/>
          </a:prstGeom>
          <a:solidFill>
            <a:srgbClr val="2A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4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914399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11480" cy="635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754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F57C00"/>
                </a:solidFill>
                <a:latin typeface="Verdana"/>
              </a:rPr>
              <a:t>LE POINT DE DÉPART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8961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161B3A"/>
                </a:solidFill>
                <a:latin typeface="Verdana"/>
              </a:rPr>
              <a:t>Je ne promets pas de changer le collège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4754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5A607A"/>
                </a:solidFill>
                <a:latin typeface="Verdana"/>
              </a:rPr>
              <a:t>L'année prochaine, ce sera toujours :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1400"/>
              </a:spcAft>
            </a:pPr>
            <a:r>
              <a:rPr sz="2100" b="1">
                <a:solidFill>
                  <a:srgbClr val="2A315C"/>
                </a:solidFill>
                <a:latin typeface="Verdana"/>
              </a:rPr>
              <a:t>Le même bâtiment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1400"/>
              </a:spcAft>
            </a:pPr>
            <a:r>
              <a:rPr sz="2100" b="1">
                <a:solidFill>
                  <a:srgbClr val="2A315C"/>
                </a:solidFill>
                <a:latin typeface="Verdana"/>
              </a:rPr>
              <a:t>Les mêmes contrôles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1400"/>
              </a:spcAft>
            </a:pPr>
            <a:r>
              <a:rPr sz="2100" b="1">
                <a:solidFill>
                  <a:srgbClr val="2A315C"/>
                </a:solidFill>
                <a:latin typeface="Verdana"/>
              </a:rPr>
              <a:t>La même cantine le jeudi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2651760"/>
            <a:ext cx="3703320" cy="301752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2651760"/>
            <a:ext cx="63500" cy="301752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88036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07A"/>
                </a:solidFill>
                <a:latin typeface="Verdana"/>
              </a:rPr>
              <a:t>Une seule chose peut changer 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61B3A"/>
                </a:solidFill>
                <a:latin typeface="Verdana"/>
              </a:rPr>
              <a:t>est-ce que vos idées arrivent jusqu'à la réunion, ou est-ce qu'elles restent dans la cour ?</a:t>
            </a:r>
          </a:p>
        </p:txBody>
      </p:sp>
      <p:sp>
        <p:nvSpPr>
          <p:cNvPr id="10" name="Oval 9"/>
          <p:cNvSpPr/>
          <p:nvPr/>
        </p:nvSpPr>
        <p:spPr>
          <a:xfrm>
            <a:off x="9769449" y="3002889"/>
            <a:ext cx="2223820" cy="2223820"/>
          </a:xfrm>
          <a:prstGeom prst="ellipse">
            <a:avLst/>
          </a:prstGeom>
          <a:solidFill>
            <a:srgbClr val="FC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F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246120"/>
            <a:ext cx="173736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5A607A"/>
                </a:solidFill>
                <a:latin typeface="Verdana"/>
              </a:rPr>
              <a:t>Lucien, délégué de classe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30936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>
                <a:solidFill>
                  <a:srgbClr val="5A607A"/>
                </a:solidFill>
                <a:latin typeface="Verdan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11480" cy="635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754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F57C00"/>
                </a:solidFill>
                <a:latin typeface="Verdana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161B3A"/>
                </a:solidFill>
                <a:latin typeface="Verdana"/>
              </a:rPr>
              <a:t>Un délégué, trois 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2743200" cy="23774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161B3A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315C"/>
                </a:solidFill>
                <a:latin typeface="Verdana"/>
              </a:rPr>
              <a:t>Aller aux conseils de classe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331720"/>
            <a:ext cx="2743200" cy="23774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6060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161B3A"/>
                </a:solidFill>
                <a:latin typeface="Verdan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3832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A315C"/>
                </a:solidFill>
                <a:latin typeface="Verdana"/>
              </a:rPr>
              <a:t>Parler au nom de la classe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331720"/>
            <a:ext cx="2743200" cy="2377440"/>
          </a:xfrm>
          <a:prstGeom prst="rect">
            <a:avLst/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79" y="26060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F57C00"/>
                </a:solidFill>
                <a:latin typeface="Verdan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33832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Revenir vous raconter ce qui s'est 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1">
                <a:solidFill>
                  <a:srgbClr val="161B3A"/>
                </a:solidFill>
                <a:latin typeface="Verdana"/>
              </a:rPr>
              <a:t>La troisième, personne ne la fait.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1400"/>
              </a:spcAft>
            </a:pPr>
            <a:r>
              <a:rPr sz="1600" b="0">
                <a:solidFill>
                  <a:srgbClr val="5A607A"/>
                </a:solidFill>
                <a:latin typeface="Verdana"/>
              </a:rPr>
              <a:t>On nous élit en octobre. En janvier, on ne sait toujours pas ce qui s'est décidé.</a:t>
            </a:r>
          </a:p>
        </p:txBody>
      </p:sp>
      <p:sp>
        <p:nvSpPr>
          <p:cNvPr id="16" name="Oval 15"/>
          <p:cNvSpPr/>
          <p:nvPr/>
        </p:nvSpPr>
        <p:spPr>
          <a:xfrm>
            <a:off x="9827971" y="4021531"/>
            <a:ext cx="2106777" cy="2106777"/>
          </a:xfrm>
          <a:prstGeom prst="ellipse">
            <a:avLst/>
          </a:prstGeom>
          <a:solidFill>
            <a:srgbClr val="FC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F4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51959"/>
            <a:ext cx="1645920" cy="1645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5A607A"/>
                </a:solidFill>
                <a:latin typeface="Verdana"/>
              </a:rPr>
              <a:t>Lucien, délégué de classe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30936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>
                <a:solidFill>
                  <a:srgbClr val="5A607A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85800"/>
            <a:ext cx="411480" cy="635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54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F57C00"/>
                </a:solidFill>
                <a:latin typeface="Verdana"/>
              </a:rPr>
              <a:t>PROMESSE N°1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8961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800" b="1">
                <a:solidFill>
                  <a:srgbClr val="161B3A"/>
                </a:solidFill>
                <a:latin typeface="Verdana"/>
              </a:rPr>
              <a:t>Le lendemain de chaque conseil, vous avez un compte rendu.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8961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0">
                <a:solidFill>
                  <a:srgbClr val="5A607A"/>
                </a:solidFill>
                <a:latin typeface="Verdana"/>
              </a:rPr>
              <a:t>Qui a posé une question, ce qui a été répondu, ce qui est accepté, ce qui est refusé.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  <a:spcAft>
                <a:spcPts val="1400"/>
              </a:spcAft>
            </a:pPr>
            <a:r>
              <a:rPr sz="2800" b="1">
                <a:solidFill>
                  <a:srgbClr val="F57C00"/>
                </a:solidFill>
                <a:latin typeface="Verdana"/>
              </a:rPr>
              <a:t>Même court. Même si la nouvelle est mauvaise.</a:t>
            </a:r>
          </a:p>
        </p:txBody>
      </p:sp>
      <p:sp>
        <p:nvSpPr>
          <p:cNvPr id="8" name="Oval 7"/>
          <p:cNvSpPr/>
          <p:nvPr/>
        </p:nvSpPr>
        <p:spPr>
          <a:xfrm>
            <a:off x="9769449" y="3460089"/>
            <a:ext cx="2223820" cy="2223820"/>
          </a:xfrm>
          <a:prstGeom prst="ellipse">
            <a:avLst/>
          </a:prstGeom>
          <a:solidFill>
            <a:srgbClr val="FC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4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703320"/>
            <a:ext cx="173736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5A607A"/>
                </a:solidFill>
                <a:latin typeface="Verdana"/>
              </a:rPr>
              <a:t>Lucien, délégué de classe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30936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>
                <a:solidFill>
                  <a:srgbClr val="5A607A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85800"/>
            <a:ext cx="411480" cy="635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54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F57C00"/>
                </a:solidFill>
                <a:latin typeface="Verdana"/>
              </a:rPr>
              <a:t>PROMESSE N°2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161B3A"/>
                </a:solidFill>
                <a:latin typeface="Verdana"/>
              </a:rPr>
              <a:t>Une boîte à idées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7548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F57C00"/>
                </a:solidFill>
                <a:latin typeface="Verdana"/>
              </a:rPr>
              <a:t>Comment ça marche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2A315C"/>
                </a:solidFill>
                <a:latin typeface="Verdana"/>
              </a:rPr>
              <a:t>Une feuille posée dans la classe, à la fin du cours.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1400"/>
              </a:spcAft>
            </a:pPr>
            <a:r>
              <a:rPr sz="2000" b="0">
                <a:solidFill>
                  <a:srgbClr val="2A315C"/>
                </a:solidFill>
                <a:latin typeface="Verdana"/>
              </a:rPr>
              <a:t>Tu écris une idée. Ton nom si tu veux.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1400"/>
              </a:spcAft>
            </a:pPr>
            <a:r>
              <a:rPr sz="2000" b="0">
                <a:solidFill>
                  <a:srgbClr val="2A315C"/>
                </a:solidFill>
                <a:latin typeface="Verdana"/>
              </a:rPr>
              <a:t>Sujets libres : devoirs, sorties, self, ambiance.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828800"/>
            <a:ext cx="3703320" cy="3931920"/>
          </a:xfrm>
          <a:prstGeom prst="rect">
            <a:avLst/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7C00"/>
                </a:solidFill>
                <a:latin typeface="Verdana"/>
              </a:rPr>
              <a:t>Ma part du contrat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Verdana"/>
              </a:rPr>
              <a:t>Je lis tout.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Je remonte tout au prof principal, dans l'ordre.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Si une idée ne passe pas, je vous dis pourquoi.</a:t>
            </a:r>
          </a:p>
        </p:txBody>
      </p:sp>
      <p:sp>
        <p:nvSpPr>
          <p:cNvPr id="10" name="Oval 9"/>
          <p:cNvSpPr/>
          <p:nvPr/>
        </p:nvSpPr>
        <p:spPr>
          <a:xfrm>
            <a:off x="9769449" y="2545689"/>
            <a:ext cx="2223820" cy="2223820"/>
          </a:xfrm>
          <a:prstGeom prst="ellipse">
            <a:avLst/>
          </a:prstGeom>
          <a:solidFill>
            <a:srgbClr val="FC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F4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788920"/>
            <a:ext cx="173736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5A607A"/>
                </a:solidFill>
                <a:latin typeface="Verdana"/>
              </a:rPr>
              <a:t>Lucien, délégué de classe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30936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>
                <a:solidFill>
                  <a:srgbClr val="5A607A"/>
                </a:solidFill>
                <a:latin typeface="Verda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411480" cy="635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754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F57C00"/>
                </a:solidFill>
                <a:latin typeface="Verdana"/>
              </a:rPr>
              <a:t>POURQUOI MOI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8961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800" b="1">
                <a:solidFill>
                  <a:srgbClr val="F57C00"/>
                </a:solidFill>
                <a:latin typeface="Verdana"/>
              </a:rPr>
              <a:t>[À COMPLÉTER : une raison vraie, en une phrase. Quelque chose que tu as vu ou vécu dans la classe cette année.]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8961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1">
                <a:solidFill>
                  <a:srgbClr val="161B3A"/>
                </a:solidFill>
                <a:latin typeface="Verdana"/>
              </a:rPr>
              <a:t>Je suis dans cette classe tous les jours, comme vous.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  <a:spcAft>
                <a:spcPts val="1400"/>
              </a:spcAft>
            </a:pPr>
            <a:r>
              <a:rPr sz="2100" b="0">
                <a:solidFill>
                  <a:srgbClr val="5A607A"/>
                </a:solidFill>
                <a:latin typeface="Verdana"/>
              </a:rPr>
              <a:t>Je n'ai rien à y gagner, à part une réunion pendant la récré.</a:t>
            </a:r>
          </a:p>
        </p:txBody>
      </p:sp>
      <p:sp>
        <p:nvSpPr>
          <p:cNvPr id="7" name="Oval 6"/>
          <p:cNvSpPr/>
          <p:nvPr/>
        </p:nvSpPr>
        <p:spPr>
          <a:xfrm>
            <a:off x="9769449" y="1265529"/>
            <a:ext cx="2223820" cy="2223820"/>
          </a:xfrm>
          <a:prstGeom prst="ellipse">
            <a:avLst/>
          </a:prstGeom>
          <a:solidFill>
            <a:srgbClr val="FC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F6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50876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5A607A"/>
                </a:solidFill>
                <a:latin typeface="Verdana"/>
              </a:rPr>
              <a:t>Lucien, délégué de 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30936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>
                <a:solidFill>
                  <a:srgbClr val="5A607A"/>
                </a:solidFill>
                <a:latin typeface="Verdan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57C00"/>
                </a:solidFill>
                <a:latin typeface="Verdana"/>
              </a:rPr>
              <a:t>LE SLOGAN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589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5800" b="1">
                <a:solidFill>
                  <a:srgbClr val="FFFFFF"/>
                </a:solidFill>
                <a:latin typeface="Verdana"/>
              </a:rPr>
              <a:t>Ce que tu dis en bas,
je le dis en haut.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846320"/>
            <a:ext cx="2926080" cy="508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1371600"/>
            <a:ext cx="2926080" cy="2926080"/>
          </a:xfrm>
          <a:prstGeom prst="ellipse">
            <a:avLst/>
          </a:prstGeom>
          <a:solidFill>
            <a:srgbClr val="2A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B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69164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8961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>
                <a:solidFill>
                  <a:srgbClr val="5A607A"/>
                </a:solidFill>
                <a:latin typeface="Verdana"/>
              </a:rPr>
              <a:t>Le bulletin, c'est deux noms à écrire.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1400"/>
              </a:spcAft>
            </a:pPr>
            <a:r>
              <a:rPr sz="5600" b="1">
                <a:solidFill>
                  <a:srgbClr val="161B3A"/>
                </a:solidFill>
                <a:latin typeface="Verdana"/>
              </a:rPr>
              <a:t>Mettez Lucien.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5120640" cy="1645920"/>
          </a:xfrm>
          <a:prstGeom prst="rect">
            <a:avLst/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42062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Verdana"/>
              </a:rPr>
              <a:t>Vous aurez quelqu'un qui vous tient au courant.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3931920"/>
            <a:ext cx="3703320" cy="164592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931920"/>
            <a:ext cx="31546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800" b="1">
                <a:solidFill>
                  <a:srgbClr val="FFFFFF"/>
                </a:solidFill>
                <a:latin typeface="Verdana"/>
              </a:rPr>
              <a:t>Votez Lucien.</a:t>
            </a:r>
          </a:p>
        </p:txBody>
      </p:sp>
      <p:sp>
        <p:nvSpPr>
          <p:cNvPr id="9" name="Oval 8"/>
          <p:cNvSpPr/>
          <p:nvPr/>
        </p:nvSpPr>
        <p:spPr>
          <a:xfrm>
            <a:off x="9769449" y="1265529"/>
            <a:ext cx="2223820" cy="2223820"/>
          </a:xfrm>
          <a:prstGeom prst="ellipse">
            <a:avLst/>
          </a:prstGeom>
          <a:solidFill>
            <a:srgbClr val="FC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F5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508760"/>
            <a:ext cx="1737360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5A607A"/>
                </a:solidFill>
                <a:latin typeface="Verdana"/>
              </a:rPr>
              <a:t>Lucien, délégué de classe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0936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>
                <a:solidFill>
                  <a:srgbClr val="5A607A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